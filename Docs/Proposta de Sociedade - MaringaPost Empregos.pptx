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040880" cy="685800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040880" cy="118872"/>
          </a:xfrm>
          <a:prstGeom prst="rect">
            <a:avLst/>
          </a:prstGeom>
          <a:solidFill>
            <a:srgbClr val="155E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MaringáPost Empregos</a:t>
            </a:r>
            <a:endParaRPr lang="en-US" sz="1700" dirty="0"/>
          </a:p>
          <a:p>
            <a:pPr indent="0" marL="0">
              <a:buNone/>
            </a:pPr>
            <a:r>
              <a:rPr lang="en-US" sz="900" b="1" spc="300" kern="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SOCIEDADE · CONFIDENCIAL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852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que um quadro de vagas: um hub regional de talento movido a IA.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oportunidade de construir, dentro do MaringáPost, a principal plataforma de empregos e talento da região — com inteligência artificial, novos mercados e espaço para escalar muito além.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5212080"/>
            <a:ext cx="5760720" cy="0"/>
          </a:xfrm>
          <a:prstGeom prst="line">
            <a:avLst/>
          </a:prstGeom>
          <a:noFill/>
          <a:ln w="12700">
            <a:solidFill>
              <a:srgbClr val="4DA8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3492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555955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 do PR → novas praças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33472" y="53492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33472" y="555955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em desenvolvimento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26864" y="53492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26864" y="555955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em cada etapa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07808" y="1801368"/>
            <a:ext cx="3986784" cy="2879503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A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35240" y="1828800"/>
            <a:ext cx="3931920" cy="18288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6" name="Shape 14"/>
          <p:cNvSpPr/>
          <p:nvPr/>
        </p:nvSpPr>
        <p:spPr>
          <a:xfrm>
            <a:off x="7744968" y="1892808"/>
            <a:ext cx="54864" cy="54864"/>
          </a:xfrm>
          <a:prstGeom prst="ellipse">
            <a:avLst/>
          </a:prstGeom>
          <a:solidFill>
            <a:srgbClr val="D2CDC2"/>
          </a:solidFill>
          <a:ln/>
        </p:spPr>
      </p:sp>
      <p:sp>
        <p:nvSpPr>
          <p:cNvPr id="17" name="Shape 15"/>
          <p:cNvSpPr/>
          <p:nvPr/>
        </p:nvSpPr>
        <p:spPr>
          <a:xfrm>
            <a:off x="7891272" y="1892808"/>
            <a:ext cx="54864" cy="54864"/>
          </a:xfrm>
          <a:prstGeom prst="ellipse">
            <a:avLst/>
          </a:prstGeom>
          <a:solidFill>
            <a:srgbClr val="D2CDC2"/>
          </a:solidFill>
          <a:ln/>
        </p:spPr>
      </p:sp>
      <p:sp>
        <p:nvSpPr>
          <p:cNvPr id="18" name="Shape 16"/>
          <p:cNvSpPr/>
          <p:nvPr/>
        </p:nvSpPr>
        <p:spPr>
          <a:xfrm>
            <a:off x="8037576" y="1892808"/>
            <a:ext cx="54864" cy="54864"/>
          </a:xfrm>
          <a:prstGeom prst="ellipse">
            <a:avLst/>
          </a:prstGeom>
          <a:solidFill>
            <a:srgbClr val="D2CDC2"/>
          </a:solidFill>
          <a:ln/>
        </p:spPr>
      </p:sp>
      <p:pic>
        <p:nvPicPr>
          <p:cNvPr id="19" name="Image 0" descr="/private/tmp/claude-501/-Users-leandrosouza-Documents-Estudo-An-lise-Edital-e-Contrato-IA-Sistema/6f113f28-d8a8-4951-8653-2cb07255da23/scratchpad/shots_mp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0"/>
            <a:ext cx="3931920" cy="264175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635240" y="5120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já navegável — produto em desenvolvimento.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 OPORTUNIDADE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mercado regional de trabalho está mal servido — e é nosso para capturar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47288" cy="2240280"/>
          </a:xfrm>
          <a:prstGeom prst="roundRect">
            <a:avLst>
              <a:gd name="adj" fmla="val 3265"/>
            </a:avLst>
          </a:prstGeom>
          <a:solidFill>
            <a:srgbClr val="FAF9F6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38528"/>
            <a:ext cx="457200" cy="457200"/>
          </a:xfrm>
          <a:prstGeom prst="ellipse">
            <a:avLst/>
          </a:prstGeom>
          <a:solidFill>
            <a:srgbClr val="0F7D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56816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desatendido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2487168"/>
            <a:ext cx="30449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grandes portais são genéricos e nacionais. Ninguém atende bem empresas e candidatos da região.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0832" y="1737360"/>
            <a:ext cx="3447288" cy="2240280"/>
          </a:xfrm>
          <a:prstGeom prst="roundRect">
            <a:avLst>
              <a:gd name="adj" fmla="val 3265"/>
            </a:avLst>
          </a:prstGeom>
          <a:solidFill>
            <a:srgbClr val="FAF9F6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938528"/>
            <a:ext cx="457200" cy="45720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48072" y="1956816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Audiência pronta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0" y="2487168"/>
            <a:ext cx="30449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canal do MaringáPost já tem o público. Tráfego orgânico e baixo custo de aquisição desde o dia 1.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447288" cy="2240280"/>
          </a:xfrm>
          <a:prstGeom prst="roundRect">
            <a:avLst>
              <a:gd name="adj" fmla="val 3265"/>
            </a:avLst>
          </a:prstGeom>
          <a:solidFill>
            <a:srgbClr val="FAF9F6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1938528"/>
            <a:ext cx="457200" cy="457200"/>
          </a:xfrm>
          <a:prstGeom prst="ellipse">
            <a:avLst/>
          </a:prstGeom>
          <a:solidFill>
            <a:srgbClr val="B8742A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78824" y="1956816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Nichos sem concorrência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02752" y="2487168"/>
            <a:ext cx="30449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PCD, Talento 50+, temporários e contratação por competência: espaços praticamente vazios na região.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10908792" cy="1508760"/>
          </a:xfrm>
          <a:prstGeom prst="roundRect">
            <a:avLst>
              <a:gd name="adj" fmla="val 4848"/>
            </a:avLst>
          </a:prstGeom>
          <a:solidFill>
            <a:srgbClr val="E7F3E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43484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5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Posicionamento: 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 classificado de vagas. É um </a:t>
            </a:r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regional de talento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recrutamento, conteúdo, inclusão e novos modelos de contratação — dentro de uma marca de confiança que a região já conhece.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6400800"/>
            <a:ext cx="10908792" cy="0"/>
          </a:xfrm>
          <a:prstGeom prst="line">
            <a:avLst/>
          </a:prstGeom>
          <a:noFill/>
          <a:ln w="12700">
            <a:solidFill>
              <a:srgbClr val="E0DC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MaringáPost Empregos · Proposta de Sociedade</a:t>
            </a:r>
            <a:pPr indent="0" marL="0">
              <a:buNone/>
            </a:pPr>
            <a:r>
              <a:rPr lang="en-US" sz="900" dirty="0">
                <a:solidFill>
                  <a:srgbClr val="A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01 / 08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DIFERENCIAIS DA FERRAMENTA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ferramenta que já nasce diferente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47288" cy="1783080"/>
          </a:xfrm>
          <a:prstGeom prst="roundRect">
            <a:avLst>
              <a:gd name="adj" fmla="val 4103"/>
            </a:avLst>
          </a:prstGeom>
          <a:solidFill>
            <a:srgbClr val="FAF9F6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38528"/>
            <a:ext cx="457200" cy="457200"/>
          </a:xfrm>
          <a:prstGeom prst="ellipse">
            <a:avLst/>
          </a:prstGeom>
          <a:solidFill>
            <a:srgbClr val="0F7D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956816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por IA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2487168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Compatibilidade candidato↔vaga por similaridade semântica (embeddings).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0832" y="1737360"/>
            <a:ext cx="3447288" cy="1783080"/>
          </a:xfrm>
          <a:prstGeom prst="roundRect">
            <a:avLst>
              <a:gd name="adj" fmla="val 4103"/>
            </a:avLst>
          </a:prstGeom>
          <a:solidFill>
            <a:srgbClr val="FAF9F6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938528"/>
            <a:ext cx="457200" cy="45720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48072" y="1956816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cria a vaga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0" y="2487168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anúncio, requisitos e faixa salarial a partir de um briefing curto.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447288" cy="1783080"/>
          </a:xfrm>
          <a:prstGeom prst="roundRect">
            <a:avLst>
              <a:gd name="adj" fmla="val 4103"/>
            </a:avLst>
          </a:prstGeom>
          <a:solidFill>
            <a:srgbClr val="FAF9F6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193852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78824" y="1956816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 de currículo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02752" y="2487168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estrutura o perfil do candidato automaticamente, a partir do PDF.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03320"/>
            <a:ext cx="3447288" cy="1783080"/>
          </a:xfrm>
          <a:prstGeom prst="roundRect">
            <a:avLst>
              <a:gd name="adj" fmla="val 4103"/>
            </a:avLst>
          </a:prstGeom>
          <a:solidFill>
            <a:srgbClr val="FAF9F6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3904488"/>
            <a:ext cx="457200" cy="457200"/>
          </a:xfrm>
          <a:prstGeom prst="ellipse">
            <a:avLst/>
          </a:prstGeom>
          <a:solidFill>
            <a:srgbClr val="155E3F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3922776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Empresa verificada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41248" y="4453128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 de confiança e transparência do tempo de resposta.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0832" y="3703320"/>
            <a:ext cx="3447288" cy="1783080"/>
          </a:xfrm>
          <a:prstGeom prst="roundRect">
            <a:avLst>
              <a:gd name="adj" fmla="val 4103"/>
            </a:avLst>
          </a:prstGeom>
          <a:solidFill>
            <a:srgbClr val="FAF9F6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904488"/>
            <a:ext cx="457200" cy="457200"/>
          </a:xfrm>
          <a:prstGeom prst="ellipse">
            <a:avLst/>
          </a:prstGeom>
          <a:solidFill>
            <a:srgbClr val="B8742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48072" y="3922776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Inclusão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000" y="4453128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Trilhas afirmativas para PCD e Talento 50+ — com respaldo de marca.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1584" y="3703320"/>
            <a:ext cx="3447288" cy="1783080"/>
          </a:xfrm>
          <a:prstGeom prst="roundRect">
            <a:avLst>
              <a:gd name="adj" fmla="val 4103"/>
            </a:avLst>
          </a:prstGeom>
          <a:solidFill>
            <a:srgbClr val="FAF9F6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02752" y="3904488"/>
            <a:ext cx="457200" cy="457200"/>
          </a:xfrm>
          <a:prstGeom prst="ellipse">
            <a:avLst/>
          </a:prstGeom>
          <a:solidFill>
            <a:srgbClr val="0F7D8C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↗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78824" y="3922776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 + SEO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02752" y="4453128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Jornalismo de carreira atrai tráfego orgânico e recorrente.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6400800"/>
            <a:ext cx="10908792" cy="0"/>
          </a:xfrm>
          <a:prstGeom prst="line">
            <a:avLst/>
          </a:prstGeom>
          <a:noFill/>
          <a:ln w="12700">
            <a:solidFill>
              <a:srgbClr val="E0DC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MaringáPost Empregos · Proposta de Sociedade</a:t>
            </a:r>
            <a:pPr indent="0" marL="0">
              <a:buNone/>
            </a:pPr>
            <a:r>
              <a:rPr lang="en-US" sz="900" dirty="0">
                <a:solidFill>
                  <a:srgbClr val="A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02 / 08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 PRODUTO EM TELAS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Já navegável: o produto em desenvolvimento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12648" y="1938528"/>
            <a:ext cx="3502152" cy="2553891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A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65960"/>
            <a:ext cx="3447288" cy="18288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029968"/>
            <a:ext cx="54864" cy="54864"/>
          </a:xfrm>
          <a:prstGeom prst="ellipse">
            <a:avLst/>
          </a:prstGeom>
          <a:solidFill>
            <a:srgbClr val="D2CDC2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029968"/>
            <a:ext cx="54864" cy="54864"/>
          </a:xfrm>
          <a:prstGeom prst="ellipse">
            <a:avLst/>
          </a:prstGeom>
          <a:solidFill>
            <a:srgbClr val="D2CDC2"/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" y="2029968"/>
            <a:ext cx="54864" cy="54864"/>
          </a:xfrm>
          <a:prstGeom prst="ellipse">
            <a:avLst/>
          </a:prstGeom>
          <a:solidFill>
            <a:srgbClr val="D2CDC2"/>
          </a:solidFill>
          <a:ln/>
        </p:spPr>
      </p:sp>
      <p:pic>
        <p:nvPicPr>
          <p:cNvPr id="9" name="Image 0" descr="/private/tmp/claude-501/-Users-leandrosouza-Documents-Estudo-An-lise-Edital-e-Contrato-IA-Sistema/6f113f28-d8a8-4951-8653-2cb07255da23/scratchpad/shots_mp/vag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48840"/>
            <a:ext cx="3447288" cy="23161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4617720"/>
            <a:ext cx="3447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 da vaga — match por IA e candidatura em 1 clique.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43400" y="1938528"/>
            <a:ext cx="3502152" cy="2553891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A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70832" y="1965960"/>
            <a:ext cx="3447288" cy="18288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2029968"/>
            <a:ext cx="54864" cy="54864"/>
          </a:xfrm>
          <a:prstGeom prst="ellipse">
            <a:avLst/>
          </a:prstGeom>
          <a:solidFill>
            <a:srgbClr val="D2CDC2"/>
          </a:solidFill>
          <a:ln/>
        </p:spPr>
      </p:sp>
      <p:sp>
        <p:nvSpPr>
          <p:cNvPr id="14" name="Shape 11"/>
          <p:cNvSpPr/>
          <p:nvPr/>
        </p:nvSpPr>
        <p:spPr>
          <a:xfrm>
            <a:off x="4626864" y="2029968"/>
            <a:ext cx="54864" cy="54864"/>
          </a:xfrm>
          <a:prstGeom prst="ellipse">
            <a:avLst/>
          </a:prstGeom>
          <a:solidFill>
            <a:srgbClr val="D2CDC2"/>
          </a:solidFill>
          <a:ln/>
        </p:spPr>
      </p:sp>
      <p:sp>
        <p:nvSpPr>
          <p:cNvPr id="15" name="Shape 12"/>
          <p:cNvSpPr/>
          <p:nvPr/>
        </p:nvSpPr>
        <p:spPr>
          <a:xfrm>
            <a:off x="4773168" y="2029968"/>
            <a:ext cx="54864" cy="54864"/>
          </a:xfrm>
          <a:prstGeom prst="ellipse">
            <a:avLst/>
          </a:prstGeom>
          <a:solidFill>
            <a:srgbClr val="D2CDC2"/>
          </a:solidFill>
          <a:ln/>
        </p:spPr>
      </p:sp>
      <p:pic>
        <p:nvPicPr>
          <p:cNvPr id="16" name="Image 1" descr="/private/tmp/claude-501/-Users-leandrosouza-Documents-Estudo-An-lise-Edital-e-Contrato-IA-Sistema/6f113f28-d8a8-4951-8653-2cb07255da23/scratchpad/shots_mp/paco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148840"/>
            <a:ext cx="3447288" cy="231614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70832" y="4617720"/>
            <a:ext cx="3447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para empresas — receita recorrente, sem taxa por candidato.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074152" y="1938528"/>
            <a:ext cx="3502152" cy="2553891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A0">
                <a:alpha val="4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01584" y="1965960"/>
            <a:ext cx="3447288" cy="18288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20" name="Shape 16"/>
          <p:cNvSpPr/>
          <p:nvPr/>
        </p:nvSpPr>
        <p:spPr>
          <a:xfrm>
            <a:off x="8211312" y="2029968"/>
            <a:ext cx="54864" cy="54864"/>
          </a:xfrm>
          <a:prstGeom prst="ellipse">
            <a:avLst/>
          </a:prstGeom>
          <a:solidFill>
            <a:srgbClr val="D2CDC2"/>
          </a:solidFill>
          <a:ln/>
        </p:spPr>
      </p:sp>
      <p:sp>
        <p:nvSpPr>
          <p:cNvPr id="21" name="Shape 17"/>
          <p:cNvSpPr/>
          <p:nvPr/>
        </p:nvSpPr>
        <p:spPr>
          <a:xfrm>
            <a:off x="8357616" y="2029968"/>
            <a:ext cx="54864" cy="54864"/>
          </a:xfrm>
          <a:prstGeom prst="ellipse">
            <a:avLst/>
          </a:prstGeom>
          <a:solidFill>
            <a:srgbClr val="D2CDC2"/>
          </a:solidFill>
          <a:ln/>
        </p:spPr>
      </p:sp>
      <p:sp>
        <p:nvSpPr>
          <p:cNvPr id="22" name="Shape 18"/>
          <p:cNvSpPr/>
          <p:nvPr/>
        </p:nvSpPr>
        <p:spPr>
          <a:xfrm>
            <a:off x="8503920" y="2029968"/>
            <a:ext cx="54864" cy="54864"/>
          </a:xfrm>
          <a:prstGeom prst="ellipse">
            <a:avLst/>
          </a:prstGeom>
          <a:solidFill>
            <a:srgbClr val="D2CDC2"/>
          </a:solidFill>
          <a:ln/>
        </p:spPr>
      </p:sp>
      <p:pic>
        <p:nvPicPr>
          <p:cNvPr id="23" name="Image 2" descr="/private/tmp/claude-501/-Users-leandrosouza-Documents-Estudo-An-lise-Edital-e-Contrato-IA-Sistema/6f113f28-d8a8-4951-8653-2cb07255da23/scratchpad/shots_mp/tribun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2148840"/>
            <a:ext cx="3447288" cy="231614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101584" y="4617720"/>
            <a:ext cx="3447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Tribuna do Talento — profissionais ganham vitrine e audiência.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40080" y="553212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real, com dados reais — o desenvolvimento já entregue reduz o risco técnico e encurta o caminho até o lançamento.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40080" y="6400800"/>
            <a:ext cx="10908792" cy="0"/>
          </a:xfrm>
          <a:prstGeom prst="line">
            <a:avLst/>
          </a:prstGeom>
          <a:noFill/>
          <a:ln w="12700">
            <a:solidFill>
              <a:srgbClr val="E0DCD3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MaringáPost Empregos · Proposta de Sociedade</a:t>
            </a:r>
            <a:pPr indent="0" marL="0">
              <a:buNone/>
            </a:pPr>
            <a:r>
              <a:rPr lang="en-US" sz="900" dirty="0">
                <a:solidFill>
                  <a:srgbClr val="A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03 / 08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NOVOS MERCADOS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Várias frentes de receita além das vagas tradicionais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47288" cy="1783080"/>
          </a:xfrm>
          <a:prstGeom prst="roundRect">
            <a:avLst>
              <a:gd name="adj" fmla="val 4103"/>
            </a:avLst>
          </a:prstGeom>
          <a:solidFill>
            <a:srgbClr val="FAF9F6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38528"/>
            <a:ext cx="457200" cy="457200"/>
          </a:xfrm>
          <a:prstGeom prst="ellipse">
            <a:avLst/>
          </a:prstGeom>
          <a:solidFill>
            <a:srgbClr val="0F7D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956816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Hora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2487168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temporário sob demanda, com geolocalização.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0832" y="1737360"/>
            <a:ext cx="3447288" cy="1783080"/>
          </a:xfrm>
          <a:prstGeom prst="roundRect">
            <a:avLst>
              <a:gd name="adj" fmla="val 4103"/>
            </a:avLst>
          </a:prstGeom>
          <a:solidFill>
            <a:srgbClr val="FAF9F6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938528"/>
            <a:ext cx="457200" cy="45720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48072" y="1956816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Talento 50+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0" y="2487168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profissionais sênior e formatos de colaboração.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447288" cy="1783080"/>
          </a:xfrm>
          <a:prstGeom prst="roundRect">
            <a:avLst>
              <a:gd name="adj" fmla="val 4103"/>
            </a:avLst>
          </a:prstGeom>
          <a:solidFill>
            <a:srgbClr val="FAF9F6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1938528"/>
            <a:ext cx="457200" cy="457200"/>
          </a:xfrm>
          <a:prstGeom prst="ellipse">
            <a:avLst/>
          </a:prstGeom>
          <a:solidFill>
            <a:srgbClr val="B8742A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78824" y="1956816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Inclusão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02752" y="2487168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Vagas afirmativas (Lei de Cotas) e selo de empresa inclusiva.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03320"/>
            <a:ext cx="3447288" cy="1783080"/>
          </a:xfrm>
          <a:prstGeom prst="roundRect">
            <a:avLst>
              <a:gd name="adj" fmla="val 4103"/>
            </a:avLst>
          </a:prstGeom>
          <a:solidFill>
            <a:srgbClr val="FAF9F6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390448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3922776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41248" y="4453128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Contratação por competência: provas práticas avaliadas por IA.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0832" y="3703320"/>
            <a:ext cx="3447288" cy="1783080"/>
          </a:xfrm>
          <a:prstGeom prst="roundRect">
            <a:avLst>
              <a:gd name="adj" fmla="val 4103"/>
            </a:avLst>
          </a:prstGeom>
          <a:solidFill>
            <a:srgbClr val="FAF9F6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904488"/>
            <a:ext cx="457200" cy="457200"/>
          </a:xfrm>
          <a:prstGeom prst="ellipse">
            <a:avLst/>
          </a:prstGeom>
          <a:solidFill>
            <a:srgbClr val="155E3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48072" y="3922776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Tribuna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000" y="4453128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economy: quem se destaca vira vitrine para recrutadores.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1584" y="3703320"/>
            <a:ext cx="3447288" cy="1783080"/>
          </a:xfrm>
          <a:prstGeom prst="roundRect">
            <a:avLst>
              <a:gd name="adj" fmla="val 4103"/>
            </a:avLst>
          </a:prstGeom>
          <a:solidFill>
            <a:srgbClr val="FAF9F6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02752" y="3904488"/>
            <a:ext cx="457200" cy="457200"/>
          </a:xfrm>
          <a:prstGeom prst="ellipse">
            <a:avLst/>
          </a:prstGeom>
          <a:solidFill>
            <a:srgbClr val="0F7D8C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78824" y="3922776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Carreira &amp; RH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02752" y="4453128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editorial + amplificação de marca empregadora.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6400800"/>
            <a:ext cx="10908792" cy="0"/>
          </a:xfrm>
          <a:prstGeom prst="line">
            <a:avLst/>
          </a:prstGeom>
          <a:noFill/>
          <a:ln w="12700">
            <a:solidFill>
              <a:srgbClr val="E0DC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MaringáPost Empregos · Proposta de Sociedade</a:t>
            </a:r>
            <a:pPr indent="0" marL="0">
              <a:buNone/>
            </a:pPr>
            <a:r>
              <a:rPr lang="en-US" sz="900" dirty="0">
                <a:solidFill>
                  <a:srgbClr val="A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04 / 08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 INTELIGÊNCIA QUE ESCALA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IA cresce a cada etapa — de recomendar a agir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4728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3447288" cy="109728"/>
          </a:xfrm>
          <a:prstGeom prst="roundRect">
            <a:avLst>
              <a:gd name="adj" fmla="val 33333"/>
            </a:avLst>
          </a:prstGeom>
          <a:solidFill>
            <a:srgbClr val="1F8A5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candidato↔vaga, criação de vagas e leitura de currículos.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87368" y="1920240"/>
            <a:ext cx="283464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70832" y="1920240"/>
            <a:ext cx="344728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1920240"/>
            <a:ext cx="3447288" cy="109728"/>
          </a:xfrm>
          <a:prstGeom prst="roundRect">
            <a:avLst>
              <a:gd name="adj" fmla="val 33333"/>
            </a:avLst>
          </a:prstGeom>
          <a:solidFill>
            <a:srgbClr val="0F7D8C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2194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45152" y="2468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45152" y="31546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por resposta ativa, ranking de desafios e score de intenção.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18120" y="1920240"/>
            <a:ext cx="283464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101584" y="1920240"/>
            <a:ext cx="344728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920240"/>
            <a:ext cx="3447288" cy="109728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2194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75904" y="2468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75904" y="31546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Copiloto de carreira e agente que pré-seleciona e agenda — humano só aprova.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98348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E1F0F1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0749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inteligências previstas no roadmap.  </a:t>
            </a:r>
            <a:pPr indent="0" marL="0">
              <a:buNone/>
            </a:pPr>
            <a:r>
              <a:rPr lang="en-US" sz="13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passa de recomendar para avaliar e agir — sempre com validação humana e custo controlado.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6400800"/>
            <a:ext cx="10908792" cy="0"/>
          </a:xfrm>
          <a:prstGeom prst="line">
            <a:avLst/>
          </a:prstGeom>
          <a:noFill/>
          <a:ln w="12700">
            <a:solidFill>
              <a:srgbClr val="E0DC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MaringáPost Empregos · Proposta de Sociedade</a:t>
            </a:r>
            <a:pPr indent="0" marL="0">
              <a:buNone/>
            </a:pPr>
            <a:r>
              <a:rPr lang="en-US" sz="900" dirty="0">
                <a:solidFill>
                  <a:srgbClr val="A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05 / 08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POTENCIAL DE CRESCIMENTO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quadro de vagas regional a plataforma de talento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379476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F8A5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392277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4526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Consolidar a região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F2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Audiência, vagas e a primeira receita recorrente.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3154680"/>
            <a:ext cx="2468880" cy="2560320"/>
          </a:xfrm>
          <a:prstGeom prst="roundRect">
            <a:avLst>
              <a:gd name="adj" fmla="val 2963"/>
            </a:avLst>
          </a:prstGeom>
          <a:solidFill>
            <a:srgbClr val="0F7D8C"/>
          </a:solidFill>
          <a:ln/>
        </p:spPr>
      </p:sp>
      <p:sp>
        <p:nvSpPr>
          <p:cNvPr id="9" name="Text 7"/>
          <p:cNvSpPr/>
          <p:nvPr/>
        </p:nvSpPr>
        <p:spPr>
          <a:xfrm>
            <a:off x="3547872" y="328269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66160" y="38862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Ativar verticais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66160" y="438912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F2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Hora, Talento 50+, Inclusão e Desafios.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2514600"/>
            <a:ext cx="2468880" cy="3200400"/>
          </a:xfrm>
          <a:prstGeom prst="roundRect">
            <a:avLst>
              <a:gd name="adj" fmla="val 2963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6291072" y="264261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09360" y="32461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Inteligência avançada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09360" y="3749040"/>
            <a:ext cx="21488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F2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e agentes de IA economizando tempo de quem contrata.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869680" y="1874520"/>
            <a:ext cx="2468880" cy="3840480"/>
          </a:xfrm>
          <a:prstGeom prst="roundRect">
            <a:avLst>
              <a:gd name="adj" fmla="val 2963"/>
            </a:avLst>
          </a:prstGeom>
          <a:solidFill>
            <a:srgbClr val="B8742A"/>
          </a:solidFill>
          <a:ln/>
        </p:spPr>
      </p:sp>
      <p:sp>
        <p:nvSpPr>
          <p:cNvPr id="17" name="Text 15"/>
          <p:cNvSpPr/>
          <p:nvPr/>
        </p:nvSpPr>
        <p:spPr>
          <a:xfrm>
            <a:off x="9034272" y="200253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052560" y="2606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Expandir praças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052560" y="3108960"/>
            <a:ext cx="21488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F2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Replicar o modelo para novas cidades e regiões.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5897880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se sustenta na base de usuários, dados e caixa da anterior — crescimento composto.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6400800"/>
            <a:ext cx="10908792" cy="0"/>
          </a:xfrm>
          <a:prstGeom prst="line">
            <a:avLst/>
          </a:prstGeom>
          <a:noFill/>
          <a:ln w="12700">
            <a:solidFill>
              <a:srgbClr val="E0DC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MaringáPost Empregos · Proposta de Sociedade</a:t>
            </a:r>
            <a:pPr indent="0" marL="0">
              <a:buNone/>
            </a:pPr>
            <a:r>
              <a:rPr lang="en-US" sz="900" dirty="0">
                <a:solidFill>
                  <a:srgbClr val="A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06 / 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 SOCIEDADE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ativos que se completam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isso se realiza unindo o que cada lado já tem — uma parceria entre a audiência e o produto.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48840"/>
            <a:ext cx="5349240" cy="109728"/>
          </a:xfrm>
          <a:prstGeom prst="roundRect">
            <a:avLst>
              <a:gd name="adj" fmla="val 33333"/>
            </a:avLst>
          </a:prstGeom>
          <a:solidFill>
            <a:srgbClr val="0F7D8C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Lado A · Mídia &amp; Mercado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83464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5100" indent="-1651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Audiência e canal de divulgação</a:t>
            </a:r>
            <a:endParaRPr lang="en-US" sz="1250" dirty="0"/>
          </a:p>
          <a:p>
            <a:pPr marL="165100" indent="-1651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 credibilidade</a:t>
            </a:r>
            <a:endParaRPr lang="en-US" sz="1250" dirty="0"/>
          </a:p>
          <a:p>
            <a:pPr marL="165100" indent="-1651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clientes (anunciantes)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9632" y="21488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2148840"/>
            <a:ext cx="5349240" cy="109728"/>
          </a:xfrm>
          <a:prstGeom prst="roundRect">
            <a:avLst>
              <a:gd name="adj" fmla="val 33333"/>
            </a:avLst>
          </a:prstGeom>
          <a:solidFill>
            <a:srgbClr val="1F8A5B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Lado B · Negócio &amp; Tecnologia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83464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5100" indent="-1651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e tecnologia (em desenvolvimento)</a:t>
            </a:r>
            <a:endParaRPr lang="en-US" sz="1250" dirty="0"/>
          </a:p>
          <a:p>
            <a:pPr marL="165100" indent="-1651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negócio e IA aplicada</a:t>
            </a:r>
            <a:endParaRPr lang="en-US" sz="1250" dirty="0"/>
          </a:p>
          <a:p>
            <a:pPr marL="165100" indent="-1651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e evolução contínua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1F8A5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70916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Sociedade igualitária 50/50.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NewCo própria, com a propriedade intelectual da empresa. Modelo simples nesta fase — detalhes no term sheet e na planilha de valoração.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6400800"/>
            <a:ext cx="10908792" cy="0"/>
          </a:xfrm>
          <a:prstGeom prst="line">
            <a:avLst/>
          </a:prstGeom>
          <a:noFill/>
          <a:ln w="12700">
            <a:solidFill>
              <a:srgbClr val="E0DC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MaringáPost Empregos · Proposta de Sociedade</a:t>
            </a:r>
            <a:pPr indent="0" marL="0">
              <a:buNone/>
            </a:pPr>
            <a:r>
              <a:rPr lang="en-US" sz="900" dirty="0">
                <a:solidFill>
                  <a:srgbClr val="A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07 /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PRÓXIMOS PASSOS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alinhamento à operação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51560" y="2926080"/>
            <a:ext cx="10058400" cy="0"/>
          </a:xfrm>
          <a:prstGeom prst="line">
            <a:avLst/>
          </a:prstGeom>
          <a:noFill/>
          <a:ln w="25400">
            <a:solidFill>
              <a:srgbClr val="E0DC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697480"/>
            <a:ext cx="457200" cy="457200"/>
          </a:xfrm>
          <a:prstGeom prst="ellipse">
            <a:avLst/>
          </a:prstGeom>
          <a:solidFill>
            <a:srgbClr val="1F8A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Alinhar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675888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 modelo da sociedade.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2697480"/>
            <a:ext cx="457200" cy="457200"/>
          </a:xfrm>
          <a:prstGeom prst="ellipse">
            <a:avLst/>
          </a:prstGeom>
          <a:solidFill>
            <a:srgbClr val="1F8A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11880" y="3337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 sheet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66160" y="3675888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principais (entregue).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2697480"/>
            <a:ext cx="457200" cy="457200"/>
          </a:xfrm>
          <a:prstGeom prst="ellipse">
            <a:avLst/>
          </a:prstGeom>
          <a:solidFill>
            <a:srgbClr val="1F8A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3337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09360" y="3675888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social, acordo de sócios, IP.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46920" y="2697480"/>
            <a:ext cx="457200" cy="457200"/>
          </a:xfrm>
          <a:prstGeom prst="ellipse">
            <a:avLst/>
          </a:prstGeom>
          <a:solidFill>
            <a:srgbClr val="1F8A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692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98280" y="3337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Operar &amp; escalar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052560" y="3675888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receita e crescer.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937760"/>
            <a:ext cx="10908792" cy="1097280"/>
          </a:xfrm>
          <a:prstGeom prst="roundRect">
            <a:avLst>
              <a:gd name="adj" fmla="val 6667"/>
            </a:avLst>
          </a:prstGeom>
          <a:solidFill>
            <a:srgbClr val="15171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7FE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oportunidade: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a audiência do MaringáPost e um produto em desenvolvimento na plataforma de talento da região — com mercado, diferenciais e espaço para crescer muito além.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6400800"/>
            <a:ext cx="10908792" cy="0"/>
          </a:xfrm>
          <a:prstGeom prst="line">
            <a:avLst/>
          </a:prstGeom>
          <a:noFill/>
          <a:ln w="12700">
            <a:solidFill>
              <a:srgbClr val="E0DC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MaringáPost Empregos · Proposta de Sociedade</a:t>
            </a:r>
            <a:pPr indent="0" marL="0">
              <a:buNone/>
            </a:pPr>
            <a:r>
              <a:rPr lang="en-US" sz="900" dirty="0">
                <a:solidFill>
                  <a:srgbClr val="A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08 / 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2026-06-30T20:03:39Z</dcterms:created>
  <dcterms:modified xsi:type="dcterms:W3CDTF">2026-06-30T20:03:39Z</dcterms:modified>
</cp:coreProperties>
</file>